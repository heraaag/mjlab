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reward</c:v>
                </c:pt>
              </c:strCache>
            </c:strRef>
          </c:tx>
          <c:spPr>
            <a:solidFill>
              <a:srgbClr val="FF9142"/>
            </a:solidFill>
            <a:ln>
              <a:solidFill>
                <a:srgbClr val="FF9142"/>
              </a:solidFill>
            </a:ln>
          </c:spPr>
          <c:cat>
            <c:strRef>
              <c:f>Sheet1!$A$2:$A$4</c:f>
              <c:strCache>
                <c:ptCount val="3"/>
                <c:pt idx="0">
                  <c:v>256 envs</c:v>
                </c:pt>
                <c:pt idx="1">
                  <c:v>1024 envs</c:v>
                </c:pt>
                <c:pt idx="2">
                  <c:v>2048 envs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44.6</c:v>
                </c:pt>
                <c:pt idx="1">
                  <c:v>58.5</c:v>
                </c:pt>
                <c:pt idx="2">
                  <c:v>85.6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B313B"/>
            </a:solidFill>
          </a:ln>
        </c:spPr>
        <c:txPr>
          <a:bodyPr/>
          <a:lstStyle/>
          <a:p>
            <a:pPr>
              <a:defRPr sz="900">
                <a:solidFill>
                  <a:srgbClr val="66717E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B313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B313B"/>
            </a:solidFill>
          </a:ln>
        </c:spPr>
        <c:txPr>
          <a:bodyPr/>
          <a:lstStyle/>
          <a:p>
            <a:pPr>
              <a:defRPr sz="900">
                <a:solidFill>
                  <a:srgbClr val="66717E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 spc="160">
                <a:solidFill>
                  <a:srgbClr val="FF9142"/>
                </a:solidFill>
                <a:latin typeface="Consolas"/>
              </a:rPr>
              <a:t>MJLAB · DODO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800" b="0" i="0">
                <a:solidFill>
                  <a:srgbClr val="EEF1F4"/>
                </a:solidFill>
                <a:latin typeface="Georgia"/>
              </a:rPr>
              <a:t>Learning to walk</a:t>
            </a:r>
          </a:p>
          <a:p>
            <a:r>
              <a:rPr sz="4800" b="0" i="0">
                <a:solidFill>
                  <a:srgbClr val="EEF1F4"/>
                </a:solidFill>
                <a:latin typeface="Georgia"/>
              </a:rPr>
              <a:t>in simulation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9BA6B2"/>
                </a:solidFill>
                <a:latin typeface="Calibri"/>
              </a:rPr>
              <a:t>Policy search for the DODO biped in mjlab — 56 training runs across three task phases, from standing on flat ground to a rough-terrain generator.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532120"/>
            <a:ext cx="9692640" cy="9525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100">
                <a:solidFill>
                  <a:srgbClr val="66717E"/>
                </a:solidFill>
                <a:latin typeface="Consolas"/>
              </a:rPr>
              <a:t>AUTHOR</a:t>
            </a:r>
          </a:p>
          <a:p>
            <a:r>
              <a:rPr sz="1300" b="0" i="0">
                <a:solidFill>
                  <a:srgbClr val="EEF1F4"/>
                </a:solidFill>
                <a:latin typeface="Calibri"/>
              </a:rPr>
              <a:t>Hera Gishti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57150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100">
                <a:solidFill>
                  <a:srgbClr val="66717E"/>
                </a:solidFill>
                <a:latin typeface="Consolas"/>
              </a:rPr>
              <a:t>PLATFORM</a:t>
            </a:r>
          </a:p>
          <a:p>
            <a:r>
              <a:rPr sz="1300" b="0" i="0">
                <a:solidFill>
                  <a:srgbClr val="EEF1F4"/>
                </a:solidFill>
                <a:latin typeface="Calibri"/>
              </a:rPr>
              <a:t>mjlab / rsl_rl (PPO)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57150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100">
                <a:solidFill>
                  <a:srgbClr val="66717E"/>
                </a:solidFill>
                <a:latin typeface="Consolas"/>
              </a:rPr>
              <a:t>ROBOT</a:t>
            </a:r>
          </a:p>
          <a:p>
            <a:r>
              <a:rPr sz="1300" b="0" i="0">
                <a:solidFill>
                  <a:srgbClr val="EEF1F4"/>
                </a:solidFill>
                <a:latin typeface="Calibri"/>
              </a:rPr>
              <a:t>DODO biped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71500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100">
                <a:solidFill>
                  <a:srgbClr val="66717E"/>
                </a:solidFill>
                <a:latin typeface="Consolas"/>
              </a:rPr>
              <a:t>RUNS MINED</a:t>
            </a:r>
          </a:p>
          <a:p>
            <a:r>
              <a:rPr sz="1300" b="0" i="0">
                <a:solidFill>
                  <a:srgbClr val="EEF1F4"/>
                </a:solidFill>
                <a:latin typeface="Calibri"/>
              </a:rPr>
              <a:t>56 (52 usable)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spc="140">
                <a:solidFill>
                  <a:srgbClr val="FF9142"/>
                </a:solidFill>
                <a:latin typeface="Consolas"/>
              </a:rPr>
              <a:t>01 ·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22376"/>
            <a:ext cx="274320" cy="1524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0" i="0">
                <a:solidFill>
                  <a:srgbClr val="EEF1F4"/>
                </a:solidFill>
                <a:latin typeface="Georgia"/>
              </a:rPr>
              <a:t>Why simulate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9692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FF9142"/>
                </a:solidFill>
                <a:latin typeface="Calibri"/>
              </a:rPr>
              <a:t>— </a:t>
            </a:r>
            <a:r>
              <a:rPr sz="1600" b="1" i="0">
                <a:solidFill>
                  <a:srgbClr val="EEF1F4"/>
                </a:solidFill>
                <a:latin typeface="Calibri"/>
              </a:rPr>
              <a:t>Start from </a:t>
            </a:r>
            <a:r>
              <a:rPr sz="1600" b="0" i="0">
                <a:solidFill>
                  <a:srgbClr val="9BA6B2"/>
                </a:solidFill>
                <a:latin typeface="Calibri"/>
              </a:rPr>
              <a:t>the DODO URDF — its real kinematic tree, joint limits, and actuator model become the ground truth the simulator has to respect.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FF9142"/>
                </a:solidFill>
                <a:latin typeface="Calibri"/>
              </a:rPr>
              <a:t>— </a:t>
            </a:r>
            <a:r>
              <a:rPr sz="1600" b="1" i="0">
                <a:solidFill>
                  <a:srgbClr val="EEF1F4"/>
                </a:solidFill>
                <a:latin typeface="Calibri"/>
              </a:rPr>
              <a:t>Physics engines are finally good enough — </a:t>
            </a:r>
            <a:r>
              <a:rPr sz="1600" b="0" i="0">
                <a:solidFill>
                  <a:srgbClr val="9BA6B2"/>
                </a:solidFill>
                <a:latin typeface="Calibri"/>
              </a:rPr>
              <a:t>mjlab's MuJoCo backend models contact and actuator dynamics closely enough that policies trained in it are worth trusting.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FF9142"/>
                </a:solidFill>
                <a:latin typeface="Calibri"/>
              </a:rPr>
              <a:t>— </a:t>
            </a:r>
            <a:r>
              <a:rPr sz="1600" b="1" i="0">
                <a:solidFill>
                  <a:srgbClr val="EEF1F4"/>
                </a:solidFill>
                <a:latin typeface="Calibri"/>
              </a:rPr>
              <a:t>And they parallelize — </a:t>
            </a:r>
            <a:r>
              <a:rPr sz="1600" b="0" i="0">
                <a:solidFill>
                  <a:srgbClr val="9BA6B2"/>
                </a:solidFill>
                <a:latin typeface="Calibri"/>
              </a:rPr>
              <a:t>thousands of copies of DODO step together on a GPU, turning what would be sequential hardware trials into one batched search.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FF9142"/>
                </a:solidFill>
                <a:latin typeface="Calibri"/>
              </a:rPr>
              <a:t>— </a:t>
            </a:r>
            <a:r>
              <a:rPr sz="1600" b="1" i="0">
                <a:solidFill>
                  <a:srgbClr val="EEF1F4"/>
                </a:solidFill>
                <a:latin typeface="Calibri"/>
              </a:rPr>
              <a:t>The goal — </a:t>
            </a:r>
            <a:r>
              <a:rPr sz="1600" b="0" i="0">
                <a:solidFill>
                  <a:srgbClr val="9BA6B2"/>
                </a:solidFill>
                <a:latin typeface="Calibri"/>
              </a:rPr>
              <a:t>explore a wide range of candidate control policies for DODO cheaply, in sim, before committing anything to the real robot.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6717E"/>
                </a:solidFill>
                <a:latin typeface="Consolas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695" cy="9525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spc="140">
                <a:solidFill>
                  <a:srgbClr val="FF9142"/>
                </a:solidFill>
                <a:latin typeface="Consolas"/>
              </a:rPr>
              <a:t>02 ·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22376"/>
            <a:ext cx="274320" cy="1524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0" i="0">
                <a:solidFill>
                  <a:srgbClr val="EEF1F4"/>
                </a:solidFill>
                <a:latin typeface="Georgia"/>
              </a:rPr>
              <a:t>Training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3246120" cy="3566160"/>
          </a:xfrm>
          <a:prstGeom prst="rect">
            <a:avLst/>
          </a:prstGeom>
          <a:solidFill>
            <a:srgbClr val="1A1F27"/>
          </a:solidFill>
          <a:ln w="9525">
            <a:solidFill>
              <a:srgbClr val="2B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3246120" cy="3810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31720"/>
            <a:ext cx="2734056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FF9142"/>
                </a:solidFill>
                <a:latin typeface="Consolas"/>
              </a:rPr>
              <a:t>PPO — held fixed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lr 1e-3 · clip ε 0.2 · γ 0.99 · λ 0.95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adaptive KL 0.01 · 5 epochs · 4 minibatches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actor/critic net [512, 256, 128]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Identical across all 56 runs — never swept.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2057400"/>
            <a:ext cx="3246120" cy="3566160"/>
          </a:xfrm>
          <a:prstGeom prst="rect">
            <a:avLst/>
          </a:prstGeom>
          <a:solidFill>
            <a:srgbClr val="1A1F27"/>
          </a:solidFill>
          <a:ln w="9525">
            <a:solidFill>
              <a:srgbClr val="2B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2057400"/>
            <a:ext cx="324612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2734056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4FD1C5"/>
                </a:solidFill>
                <a:latin typeface="Consolas"/>
              </a:rPr>
              <a:t>Terrain curriculum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Flat plane through 2026-06-07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From 06-10: generator terrain — stairs, slopes,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random rough, wave × 10 difficulty rows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terrain_levels advances with success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7536" y="2057400"/>
            <a:ext cx="3246120" cy="3566160"/>
          </a:xfrm>
          <a:prstGeom prst="rect">
            <a:avLst/>
          </a:prstGeom>
          <a:solidFill>
            <a:srgbClr val="1A1F27"/>
          </a:solidFill>
          <a:ln w="9525">
            <a:solidFill>
              <a:srgbClr val="2B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17536" y="2057400"/>
            <a:ext cx="3246120" cy="38100"/>
          </a:xfrm>
          <a:prstGeom prst="rect">
            <a:avLst/>
          </a:prstGeom>
          <a:solidFill>
            <a:srgbClr val="B39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2331720"/>
            <a:ext cx="2734056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B394F5"/>
                </a:solidFill>
                <a:latin typeface="Consolas"/>
              </a:rPr>
              <a:t>What was actually varied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num_envs: 256 → 1024 → 2048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reward-term weights across 3 phases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(stand → walk → rough)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9BA6B2"/>
                </a:solidFill>
                <a:latin typeface="Calibri"/>
              </a:rPr>
              <a:t>entropy_coef nudged on 3 of 56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1">
                <a:solidFill>
                  <a:srgbClr val="66717E"/>
                </a:solidFill>
                <a:latin typeface="Calibri"/>
              </a:rPr>
              <a:t>In short: the sweep was over task design and training scale, not PPO hyperparameters — those stayed default the entire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6717E"/>
                </a:solidFill>
                <a:latin typeface="Consolas"/>
              </a:rPr>
              <a:t>02 / 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82512"/>
            <a:ext cx="12191695" cy="9525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spc="140">
                <a:solidFill>
                  <a:srgbClr val="FF9142"/>
                </a:solidFill>
                <a:latin typeface="Consolas"/>
              </a:rPr>
              <a:t>03 · RESULTS — FLAT TERRAIN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85216"/>
            <a:ext cx="274320" cy="1524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0" i="0">
                <a:solidFill>
                  <a:srgbClr val="EEF1F4"/>
                </a:solidFill>
                <a:latin typeface="Georgia"/>
              </a:rPr>
              <a:t>Scale mattered more than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6717E"/>
                </a:solidFill>
                <a:latin typeface="Consolas"/>
              </a:rPr>
              <a:t>03 /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82512"/>
            <a:ext cx="12191695" cy="9525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4480560" cy="3246120"/>
          </a:xfrm>
          <a:prstGeom prst="rect">
            <a:avLst/>
          </a:prstGeom>
          <a:solidFill>
            <a:srgbClr val="1A1F27"/>
          </a:solidFill>
          <a:ln w="9525">
            <a:solidFill>
              <a:srgbClr val="2B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87552" y="2377439"/>
          <a:ext cx="4151376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51560" y="198424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EF1F4"/>
                </a:solidFill>
                <a:latin typeface="Calibri"/>
              </a:rPr>
              <a:t>Mean reward by parallel env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0059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66717E"/>
                </a:solidFill>
                <a:latin typeface="Consolas"/>
              </a:rPr>
              <a:t>35 flat-terrain runs (wandb) · r = 0.73 with num_envs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874519"/>
            <a:ext cx="5029200" cy="1508760"/>
          </a:xfrm>
          <a:prstGeom prst="rect">
            <a:avLst/>
          </a:prstGeom>
          <a:solidFill>
            <a:srgbClr val="1A1F27"/>
          </a:solidFill>
          <a:ln w="9525">
            <a:solidFill>
              <a:srgbClr val="2B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1874519"/>
            <a:ext cx="38100" cy="150876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3872" y="2039111"/>
            <a:ext cx="4572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 spc="100">
                <a:solidFill>
                  <a:srgbClr val="FF9142"/>
                </a:solidFill>
                <a:latin typeface="Consolas"/>
              </a:rPr>
              <a:t>BEST RUN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EEF1F4"/>
                </a:solidFill>
                <a:latin typeface="Calibri"/>
              </a:rPr>
              <a:t>2026-06-04_23-59-38  ·  reward 103.4 (peak 105.8)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9BA6B2"/>
                </a:solidFill>
                <a:latin typeface="Calibri"/>
              </a:rPr>
              <a:t>phase2-adaptive-from-standing-strict-less · 2048 envs — continued next day at reward 103.3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611879"/>
            <a:ext cx="5029200" cy="1508760"/>
          </a:xfrm>
          <a:prstGeom prst="rect">
            <a:avLst/>
          </a:prstGeom>
          <a:solidFill>
            <a:srgbClr val="1A1F27"/>
          </a:solidFill>
          <a:ln w="9525">
            <a:solidFill>
              <a:srgbClr val="2B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3611879"/>
            <a:ext cx="38100" cy="1508760"/>
          </a:xfrm>
          <a:prstGeom prst="rect">
            <a:avLst/>
          </a:prstGeom>
          <a:solidFill>
            <a:srgbClr val="667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3776471"/>
            <a:ext cx="45720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 spc="100">
                <a:solidFill>
                  <a:srgbClr val="66717E"/>
                </a:solidFill>
                <a:latin typeface="Consolas"/>
              </a:rPr>
              <a:t>WEAKEST FULLY-LOGGED VARIANT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EEF1F4"/>
                </a:solidFill>
                <a:latin typeface="Calibri"/>
              </a:rPr>
              <a:t>2026-06-04_22-53-17  ·  reward 48.3 (peak 54.3)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9BA6B2"/>
                </a:solidFill>
                <a:latin typeface="Calibri"/>
              </a:rPr>
              <a:t>adaptive-per-env — per-env adaptive scaling underperformed the shared schedule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spc="140">
                <a:solidFill>
                  <a:srgbClr val="FF9142"/>
                </a:solidFill>
                <a:latin typeface="Consolas"/>
              </a:rPr>
              <a:t>03 · RESULTS — ROUGH TERRAIN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85216"/>
            <a:ext cx="274320" cy="1524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0" i="0">
                <a:solidFill>
                  <a:srgbClr val="EEF1F4"/>
                </a:solidFill>
                <a:latin typeface="Georgia"/>
              </a:rPr>
              <a:t>Rough terrain: real progress, then a plateau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73152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51560"/>
                <a:gridCol w="1143000"/>
                <a:gridCol w="1051560"/>
                <a:gridCol w="1051560"/>
              </a:tblGrid>
              <a:tr h="4297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FD1C5"/>
                          </a:solidFill>
                          <a:latin typeface="Consolas"/>
                        </a:rPr>
                        <a:t>Run (tag)</a:t>
                      </a:r>
                    </a:p>
                  </a:txBody>
                  <a:tcPr marL="73152" marR="73152" marT="36576" marB="36576"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FD1C5"/>
                          </a:solidFill>
                          <a:latin typeface="Consolas"/>
                        </a:rPr>
                        <a:t>Iters logged</a:t>
                      </a:r>
                    </a:p>
                  </a:txBody>
                  <a:tcPr marL="73152" marR="73152" marT="36576" marB="36576"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FD1C5"/>
                          </a:solidFill>
                          <a:latin typeface="Consolas"/>
                        </a:rPr>
                        <a:t>Reward pk</a:t>
                      </a:r>
                    </a:p>
                  </a:txBody>
                  <a:tcPr marL="73152" marR="73152" marT="36576" marB="36576"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FD1C5"/>
                          </a:solidFill>
                          <a:latin typeface="Consolas"/>
                        </a:rPr>
                        <a:t>Lvl mean pk</a:t>
                      </a:r>
                    </a:p>
                  </a:txBody>
                  <a:tcPr marL="73152" marR="73152" marT="36576" marB="36576"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FD1C5"/>
                          </a:solidFill>
                          <a:latin typeface="Consolas"/>
                        </a:rPr>
                        <a:t>Lvl max</a:t>
                      </a:r>
                    </a:p>
                  </a:txBody>
                  <a:tcPr marL="73152" marR="73152" marT="36576" marB="36576">
                    <a:solidFill>
                      <a:srgbClr val="22283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EF1F4"/>
                          </a:solidFill>
                          <a:latin typeface="Calibri"/>
                        </a:rPr>
                        <a:t>06-10_04-22-56 nanfix (best)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6,491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22.1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3.5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9 / 9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EF1F4"/>
                          </a:solidFill>
                          <a:latin typeface="Calibri"/>
                        </a:rPr>
                        <a:t>06-10_01-47-04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2,800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18.1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3.5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9 / 9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EF1F4"/>
                          </a:solidFill>
                          <a:latin typeface="Calibri"/>
                        </a:rPr>
                        <a:t>06-14_03-26-33 fixedvel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339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21.7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3.5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9 / 9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EEF1F4"/>
                          </a:solidFill>
                          <a:latin typeface="Calibri"/>
                        </a:rPr>
                        <a:t>06-18_22-32-58 (1024 envs)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7,123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18.5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0.9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BA6B2"/>
                          </a:solidFill>
                          <a:latin typeface="Consolas"/>
                        </a:rPr>
                        <a:t>9 / 9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66760" y="1783080"/>
            <a:ext cx="3017520" cy="2148840"/>
          </a:xfrm>
          <a:prstGeom prst="rect">
            <a:avLst/>
          </a:prstGeom>
          <a:solidFill>
            <a:srgbClr val="1A1F27"/>
          </a:solidFill>
          <a:ln w="9525">
            <a:solidFill>
              <a:srgbClr val="2B3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1783080"/>
            <a:ext cx="3017520" cy="38100"/>
          </a:xfrm>
          <a:prstGeom prst="rect">
            <a:avLst/>
          </a:prstGeom>
          <a:solidFill>
            <a:srgbClr val="B39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965960"/>
            <a:ext cx="2606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90">
                <a:solidFill>
                  <a:srgbClr val="B394F5"/>
                </a:solidFill>
                <a:latin typeface="Consolas"/>
              </a:rPr>
              <a:t>MAX ≠ TYPICAL</a:t>
            </a:r>
          </a:p>
          <a:p>
            <a:pPr>
              <a:spcBef>
                <a:spcPts val="800"/>
              </a:spcBef>
            </a:pPr>
            <a:r>
              <a:rPr sz="2600" b="0" i="0">
                <a:solidFill>
                  <a:srgbClr val="EEF1F4"/>
                </a:solidFill>
                <a:latin typeface="Georgia"/>
              </a:rPr>
              <a:t>9 / 9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66717E"/>
                </a:solidFill>
                <a:latin typeface="Calibri"/>
              </a:rPr>
              <a:t>hardest single env, every run</a:t>
            </a:r>
          </a:p>
          <a:p>
            <a:pPr>
              <a:spcBef>
                <a:spcPts val="1000"/>
              </a:spcBef>
            </a:pPr>
            <a:r>
              <a:rPr sz="2600" b="0" i="0">
                <a:solidFill>
                  <a:srgbClr val="EEF1F4"/>
                </a:solidFill>
                <a:latin typeface="Georgia"/>
              </a:rPr>
              <a:t>3.5 / 9</a:t>
            </a:r>
          </a:p>
          <a:p>
            <a:pPr>
              <a:spcBef>
                <a:spcPts val="0"/>
              </a:spcBef>
            </a:pPr>
            <a:r>
              <a:rPr sz="1050" b="0" i="0">
                <a:solidFill>
                  <a:srgbClr val="66717E"/>
                </a:solidFill>
                <a:latin typeface="Calibri"/>
              </a:rPr>
              <a:t>population-mean ceiling, 2048-env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607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0" i="0">
                <a:solidFill>
                  <a:srgbClr val="FF9142"/>
                </a:solidFill>
                <a:latin typeface="Calibri"/>
              </a:rPr>
              <a:t>— </a:t>
            </a:r>
            <a:r>
              <a:rPr sz="1350" b="1" i="0">
                <a:solidFill>
                  <a:srgbClr val="EEF1F4"/>
                </a:solidFill>
                <a:latin typeface="Calibri"/>
              </a:rPr>
              <a:t>Correcting the earlier claim: </a:t>
            </a:r>
            <a:r>
              <a:rPr sz="1350" b="0" i="0">
                <a:solidFill>
                  <a:srgbClr val="9BA6B2"/>
                </a:solidFill>
                <a:latin typeface="Calibri"/>
              </a:rPr>
              <a:t>revised from the wandb-only pass: every 2048-env rough run — regardless of restart, bugfix, or how long it trained — has at least one env clear the entire 9-level curriculum, and the population average consistently tops out around level 3.5. That's a real, reproducible ceiling, not a stall at the easiest tier.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FF9142"/>
                </a:solidFill>
                <a:latin typeface="Calibri"/>
              </a:rPr>
              <a:t>— </a:t>
            </a:r>
            <a:r>
              <a:rPr sz="1350" b="1" i="0">
                <a:solidFill>
                  <a:srgbClr val="EEF1F4"/>
                </a:solidFill>
                <a:latin typeface="Calibri"/>
              </a:rPr>
              <a:t>Best run: </a:t>
            </a:r>
            <a:r>
              <a:rPr sz="1350" b="0" i="0">
                <a:solidFill>
                  <a:srgbClr val="9BA6B2"/>
                </a:solidFill>
                <a:latin typeface="Calibri"/>
              </a:rPr>
              <a:t>06-10_04-22-56 ("nanfix") trained the longest (6,491 logged iters) with the cleanest termination profile (0% out-of-terrain-bounds) — the best evidence so far that rough terrain is learnable, just not yet past ~level 3.5.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FF9142"/>
                </a:solidFill>
                <a:latin typeface="Calibri"/>
              </a:rPr>
              <a:t>— </a:t>
            </a:r>
            <a:r>
              <a:rPr sz="1350" b="1" i="0">
                <a:solidFill>
                  <a:srgbClr val="EEF1F4"/>
                </a:solidFill>
                <a:latin typeface="Calibri"/>
              </a:rPr>
              <a:t>One outlier: </a:t>
            </a:r>
            <a:r>
              <a:rPr sz="1350" b="0" i="0">
                <a:solidFill>
                  <a:srgbClr val="9BA6B2"/>
                </a:solidFill>
                <a:latin typeface="Calibri"/>
              </a:rPr>
              <a:t>the 1024-env 06-18 run reached the highest final reward (14.9) of any rough run but the lowest terrain-mean ceiling (0.9) — reward and curriculum progress aren't tightly coupled here, likely due to reward-weight revisions between phases.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6717E"/>
                </a:solidFill>
                <a:latin typeface="Consolas"/>
              </a:rPr>
              <a:t>04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82512"/>
            <a:ext cx="12191695" cy="9525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spc="140">
                <a:solidFill>
                  <a:srgbClr val="FF9142"/>
                </a:solidFill>
                <a:latin typeface="Consolas"/>
              </a:rPr>
              <a:t>04 ·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22376"/>
            <a:ext cx="274320" cy="1524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0" i="0">
                <a:solidFill>
                  <a:srgbClr val="EEF1F4"/>
                </a:solidFill>
                <a:latin typeface="Georgia"/>
              </a:rPr>
              <a:t>Where this leaves DODO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28575" cy="123444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692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 spc="100">
                <a:solidFill>
                  <a:srgbClr val="4FD1C5"/>
                </a:solidFill>
                <a:latin typeface="Consolas"/>
              </a:rPr>
              <a:t>WORKING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EEF1F4"/>
                </a:solidFill>
                <a:latin typeface="Calibri"/>
              </a:rPr>
              <a:t>Flat-ground locomotion is solid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9BA6B2"/>
                </a:solidFill>
                <a:latin typeface="Calibri"/>
              </a:rPr>
              <a:t>The best runs reach reward ~103-106 once curriculum + reward shaping settle — standing, then walking, then adaptive command tracking, chained across checkpoints.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37560"/>
            <a:ext cx="28575" cy="1234440"/>
          </a:xfrm>
          <a:prstGeom prst="rect">
            <a:avLst/>
          </a:prstGeom>
          <a:solidFill>
            <a:srgbClr val="B39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37560"/>
            <a:ext cx="9692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 spc="100">
                <a:solidFill>
                  <a:srgbClr val="B394F5"/>
                </a:solidFill>
                <a:latin typeface="Consolas"/>
              </a:rPr>
              <a:t>OPEN PROBLEM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EEF1F4"/>
                </a:solidFill>
                <a:latin typeface="Calibri"/>
              </a:rPr>
              <a:t>Rough terrain plateaus around level 3.5 of 9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9BA6B2"/>
                </a:solidFill>
                <a:latin typeface="Calibri"/>
              </a:rPr>
              <a:t>Real, reproducible progress — every 2048-env run clears the hardest single-env tier at least once — but the population average consistently stalls near level 3.5. Longer, uninterrupted training past that ceiling is the open question, not whether it works at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754880"/>
            <a:ext cx="28575" cy="146304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75488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 spc="100">
                <a:solidFill>
                  <a:srgbClr val="FF9142"/>
                </a:solidFill>
                <a:latin typeface="Consolas"/>
              </a:rPr>
              <a:t>NEXT</a:t>
            </a:r>
          </a:p>
          <a:p>
            <a:pPr>
              <a:spcBef>
                <a:spcPts val="400"/>
              </a:spcBef>
            </a:pPr>
            <a:r>
              <a:rPr sz="1700" b="1" i="0">
                <a:solidFill>
                  <a:srgbClr val="EEF1F4"/>
                </a:solidFill>
                <a:latin typeface="Calibri"/>
              </a:rPr>
              <a:t>An actual hyperparameter sweep, then a decomposed critic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9BA6B2"/>
                </a:solidFill>
                <a:latin typeface="Calibri"/>
              </a:rPr>
              <a:t>PPO's hyperparameters were never really searched — a natural next sweep now that the curriculum is stable. In parallel: a decomposed (HRA-style) critic, one head per reward term, so PPO can credit-assign per objective instead of one scalar.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6717E"/>
                </a:solidFill>
                <a:latin typeface="Consolas"/>
              </a:rPr>
              <a:t>05 / 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82512"/>
            <a:ext cx="12191695" cy="9525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8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spc="140">
                <a:solidFill>
                  <a:srgbClr val="FF9142"/>
                </a:solidFill>
                <a:latin typeface="Consolas"/>
              </a:rPr>
              <a:t>APPENDIX · PPO CONFIG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22376"/>
            <a:ext cx="274320" cy="15240"/>
          </a:xfrm>
          <a:prstGeom prst="rect">
            <a:avLst/>
          </a:prstGeom>
          <a:solidFill>
            <a:srgbClr val="FF9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0" i="0">
                <a:solidFill>
                  <a:srgbClr val="EEF1F4"/>
                </a:solidFill>
                <a:latin typeface="Georgia"/>
              </a:rPr>
              <a:t>The config held constant across all 56 runs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11680"/>
          <a:ext cx="9784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5212080"/>
              </a:tblGrid>
              <a:tr h="3241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FD1C5"/>
                          </a:solidFill>
                          <a:latin typeface="Consolas"/>
                        </a:rPr>
                        <a:t>PARAMETER</a:t>
                      </a:r>
                    </a:p>
                  </a:txBody>
                  <a:tcPr marL="73152" marR="73152" marT="36576" marB="36576">
                    <a:solidFill>
                      <a:srgbClr val="2228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FD1C5"/>
                          </a:solidFill>
                          <a:latin typeface="Consolas"/>
                        </a:rP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222834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EF1F4"/>
                          </a:solidFill>
                          <a:latin typeface="Calibri"/>
                        </a:rPr>
                        <a:t>learning_rate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BA6B2"/>
                          </a:solidFill>
                          <a:latin typeface="Consolas"/>
                        </a:rPr>
                        <a:t>1e-3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EF1F4"/>
                          </a:solidFill>
                          <a:latin typeface="Calibri"/>
                        </a:rPr>
                        <a:t>clip_param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BA6B2"/>
                          </a:solidFill>
                          <a:latin typeface="Consolas"/>
                        </a:rPr>
                        <a:t>0.2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EF1F4"/>
                          </a:solidFill>
                          <a:latin typeface="Calibri"/>
                        </a:rPr>
                        <a:t>gamma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BA6B2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EF1F4"/>
                          </a:solidFill>
                          <a:latin typeface="Calibri"/>
                        </a:rPr>
                        <a:t>lam (GAE)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BA6B2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EF1F4"/>
                          </a:solidFill>
                          <a:latin typeface="Calibri"/>
                        </a:rPr>
                        <a:t>num_learning_epochs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BA6B2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EF1F4"/>
                          </a:solidFill>
                          <a:latin typeface="Calibri"/>
                        </a:rPr>
                        <a:t>num_mini_batches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BA6B2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EF1F4"/>
                          </a:solidFill>
                          <a:latin typeface="Calibri"/>
                        </a:rPr>
                        <a:t>desired_kl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BA6B2"/>
                          </a:solidFill>
                          <a:latin typeface="Consolas"/>
                        </a:rPr>
                        <a:t>0.01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EF1F4"/>
                          </a:solidFill>
                          <a:latin typeface="Calibri"/>
                        </a:rPr>
                        <a:t>schedule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BA6B2"/>
                          </a:solidFill>
                          <a:latin typeface="Consolas"/>
                        </a:rPr>
                        <a:t>adaptive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EF1F4"/>
                          </a:solidFill>
                          <a:latin typeface="Calibri"/>
                        </a:rPr>
                        <a:t>num_steps_per_env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BA6B2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  <a:tr h="324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EEF1F4"/>
                          </a:solidFill>
                          <a:latin typeface="Calibri"/>
                        </a:rPr>
                        <a:t>actor/critic net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9BA6B2"/>
                          </a:solidFill>
                          <a:latin typeface="Consolas"/>
                        </a:rPr>
                        <a:t>[512, 256, 128]</a:t>
                      </a:r>
                    </a:p>
                  </a:txBody>
                  <a:tcPr marL="73152" marR="73152" marT="36576" marB="36576">
                    <a:solidFill>
                      <a:srgbClr val="1A1F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66717E"/>
                </a:solidFill>
                <a:latin typeface="Consolas"/>
              </a:rPr>
              <a:t>06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12191695" cy="9525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